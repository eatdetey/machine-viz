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lt1"/>
          </a:solidFill>
        </a:fill>
      </a:tcStyle>
    </a:band1V>
    <a:band2V>
      <a:tcStyle>
        <a:tcBdr/>
        <a:fill>
          <a:solidFill>
            <a:schemeClr val="lt1"/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54" d="100"/>
          <a:sy n="154" d="100"/>
        </p:scale>
        <p:origin x="534" y="13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4517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817043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10/30/2025</a:t>
            </a:fld>
            <a:endParaRPr lang="en-US"/>
          </a:p>
        </p:txBody>
      </p:sp>
      <p:sp>
        <p:nvSpPr>
          <p:cNvPr id="161050627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3280596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689288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07832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637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6360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07325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741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794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4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8CCEAE-65FB-045C-F75F-4A78277E2B03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506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487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473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B71BA7-D8C9-C937-BCF1-67166C7140AB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523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5092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329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B8009F-AC99-F647-CF74-084F4A41961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330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945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604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605788-3EBA-62D4-80EB-B07B568702C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859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826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2874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55C6A5-AF7C-E370-3692-6F426AAD1353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85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9126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701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D2E6B5-9DAC-2D07-83F7-CE9F96C054B6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4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7387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87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DF8179-DE2B-D744-C5C4-E6B6FF3839C2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684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8195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5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5A3F27-2796-7915-4EA1-5D58A167018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443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716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1041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1E27A8-F883-A132-E399-A3AA757C26FA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790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733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290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747DDF-EAB9-03A3-D824-4888E707630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9371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3214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313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A0A867-1DEB-B62B-4748-46F5D934BE55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15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8092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143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22F70F-AB10-85E0-839E-7FF6872AACA3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036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36995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147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086E53-7701-FDD0-76E6-0F02BEB794C9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2729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64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95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0AAEAB-5B0C-B75D-F2EF-BDFAA267BDFC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803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61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83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9ACD-3C90-F8F9-4A65-56A20E5A3B47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50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5929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057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19E318-3DDE-E811-B61D-AB0A10F10CB6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690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841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109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7C8BC-BA83-7D46-8D19-3B330C7062E4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115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3419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677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1AEAC1-EAC1-05DF-0B3B-F21BECD3E71A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461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8878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584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B6568A-0D8B-80F9-F2D3-7EFE11F3E758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486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1744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676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B6568A-0D8B-80F9-F2D3-7EFE11F3E758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417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559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417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F84C3F-2F6C-0F7C-3EDF-3BAA9C4BB365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167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1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44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41B2DC-5981-9090-882A-411F113978BC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7523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878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463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B6568A-0D8B-80F9-F2D3-7EFE11F3E758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6087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6219980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0115847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1322604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07909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1788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763180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799006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6051622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91856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69794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835056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33895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1028903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63314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6960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560296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869085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815360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2121809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759644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63595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384130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21986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2787199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917445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6596557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119409773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339964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2154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96317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151192730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065224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1043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70530053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095495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29530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2152350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1905322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18459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10519029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8976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09273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208620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7904986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66642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19629987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5327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8591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9430545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797115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10926234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34614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26043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9328038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711336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2274538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3789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5">
            <a:lumMod val="40000"/>
            <a:lumOff val="60000"/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2865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10485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1369992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10/30/2025</a:t>
            </a:fld>
            <a:endParaRPr lang="en-US"/>
          </a:p>
        </p:txBody>
      </p:sp>
      <p:sp>
        <p:nvSpPr>
          <p:cNvPr id="159151877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733282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3013598" name="Рисунок 1688401028"/>
          <p:cNvPicPr>
            <a:picLocks noChangeAspect="1"/>
          </p:cNvPicPr>
          <p:nvPr/>
        </p:nvPicPr>
        <p:blipFill rotWithShape="1">
          <a:blip r:embed="rId3">
            <a:alphaModFix amt="60999"/>
          </a:blip>
          <a:srcRect l="51419" t="0" r="0" b="0"/>
        </p:blipFill>
        <p:spPr bwMode="auto">
          <a:xfrm>
            <a:off x="8098124" y="1703509"/>
            <a:ext cx="4118786" cy="6702332"/>
          </a:xfrm>
          <a:prstGeom prst="rect">
            <a:avLst/>
          </a:prstGeom>
        </p:spPr>
      </p:pic>
      <p:sp>
        <p:nvSpPr>
          <p:cNvPr id="1484618345" name="Title 1"/>
          <p:cNvSpPr>
            <a:spLocks noGrp="1"/>
          </p:cNvSpPr>
          <p:nvPr>
            <p:ph type="ctrTitle"/>
          </p:nvPr>
        </p:nvSpPr>
        <p:spPr bwMode="auto">
          <a:xfrm>
            <a:off x="852565" y="756016"/>
            <a:ext cx="10297967" cy="238759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 fontScale="95000"/>
          </a:bodyPr>
          <a:lstStyle/>
          <a:p>
            <a:pPr algn="l">
              <a:defRPr/>
            </a:pPr>
            <a:r>
              <a:rPr lang="ru-RU" sz="7200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Алгоритмы цифровой обработки мультимедиа</a:t>
            </a:r>
            <a:endParaRPr sz="7200"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1412392924" name="Subtitle 2"/>
          <p:cNvSpPr>
            <a:spLocks noGrp="1"/>
          </p:cNvSpPr>
          <p:nvPr>
            <p:ph type="subTitle" idx="1"/>
          </p:nvPr>
        </p:nvSpPr>
        <p:spPr bwMode="auto">
          <a:xfrm>
            <a:off x="852565" y="3235691"/>
            <a:ext cx="9144000" cy="16557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algn="l">
              <a:defRPr/>
            </a:pPr>
            <a:r>
              <a:rPr lang="ru-RU" sz="3600" b="0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Индивидуальное задание №1</a:t>
            </a:r>
            <a:endParaRPr b="1">
              <a:latin typeface="Arial"/>
              <a:cs typeface="Arial"/>
            </a:endParaRPr>
          </a:p>
          <a:p>
            <a:pPr algn="l">
              <a:defRPr/>
            </a:pPr>
            <a:endParaRPr b="1">
              <a:latin typeface="Arial"/>
              <a:cs typeface="Arial"/>
            </a:endParaRPr>
          </a:p>
          <a:p>
            <a:pPr algn="l">
              <a:defRPr/>
            </a:pPr>
            <a:r>
              <a:rPr lang="ru-RU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Иванченко П., Вавакин В., Воробьев А.</a:t>
            </a:r>
            <a:r>
              <a:rPr lang="ru-RU" b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endParaRPr b="1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7951362" name="Рисунок 39752799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71495" y="3670335"/>
            <a:ext cx="3882302" cy="2210563"/>
          </a:xfrm>
          <a:prstGeom prst="rect">
            <a:avLst/>
          </a:prstGeom>
        </p:spPr>
      </p:pic>
      <p:sp>
        <p:nvSpPr>
          <p:cNvPr id="1564710059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Постановка задачи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2118155470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451058"/>
            <a:ext cx="6421799" cy="4597660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Цель:</a:t>
            </a:r>
            <a:r>
              <a:rPr lang="ru-RU" sz="26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выбрать </a:t>
            </a: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3</a:t>
            </a:r>
            <a:r>
              <a:rPr lang="ru-RU" sz="26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метода трекинга, разобрать принцип их работы и провести сравнительный анализ.  </a:t>
            </a:r>
            <a:endParaRPr sz="2600" b="0">
              <a:solidFill>
                <a:schemeClr val="tx2">
                  <a:lumMod val="75000"/>
                </a:schemeClr>
              </a:solidFill>
              <a:latin typeface="URW Gothic"/>
              <a:ea typeface="URW Gothic"/>
              <a:cs typeface="URW Gothic"/>
            </a:endParaRPr>
          </a:p>
          <a:p>
            <a:pPr marL="0" indent="0">
              <a:buFont typeface="Arial"/>
              <a:buNone/>
              <a:defRPr/>
            </a:pP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Задача трекинга: </a:t>
            </a:r>
            <a:r>
              <a:rPr lang="ru-RU" sz="26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отслеживание животных.</a:t>
            </a:r>
            <a:endParaRPr sz="2600" b="0">
              <a:solidFill>
                <a:schemeClr val="tx2">
                  <a:lumMod val="75000"/>
                </a:schemeClr>
              </a:solidFill>
              <a:latin typeface="URW Gothic"/>
              <a:ea typeface="URW Gothic"/>
              <a:cs typeface="URW Gothic"/>
            </a:endParaRPr>
          </a:p>
          <a:p>
            <a:pPr marL="0" indent="0">
              <a:buFont typeface="Arial"/>
              <a:buNone/>
              <a:defRPr/>
            </a:pP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Параметры оценивая:</a:t>
            </a:r>
            <a:r>
              <a:rPr lang="ru-RU" sz="26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</a:t>
            </a:r>
            <a:r>
              <a:rPr lang="en-US" sz="26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FPS, </a:t>
            </a:r>
            <a:r>
              <a:rPr lang="ru-RU" sz="26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устойчивость к изменениям формы/масштаба, устойчивость к изменениям фона, частота потери объекта.</a:t>
            </a:r>
            <a:endParaRPr sz="2600" b="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394359630" name="TextBox 2010699868"/>
          <p:cNvSpPr txBox="1"/>
          <p:nvPr/>
        </p:nvSpPr>
        <p:spPr bwMode="auto">
          <a:xfrm>
            <a:off x="7604033" y="5880899"/>
            <a:ext cx="360508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indent="0" algn="l">
              <a:buFont typeface="Arial"/>
              <a:buNone/>
              <a:defRPr/>
            </a:pPr>
            <a:r>
              <a:rPr lang="ru-RU" sz="16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Рисунок 1 - Фрагменты датасета </a:t>
            </a:r>
            <a:endParaRPr sz="1600" b="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1612527640" name=""/>
          <p:cNvPicPr>
            <a:picLocks noChangeAspect="1"/>
          </p:cNvPicPr>
          <p:nvPr/>
        </p:nvPicPr>
        <p:blipFill rotWithShape="1">
          <a:blip r:embed="rId4"/>
          <a:srcRect l="812" t="0" r="0" b="0"/>
          <a:stretch/>
        </p:blipFill>
        <p:spPr bwMode="auto">
          <a:xfrm flipH="0" flipV="0">
            <a:off x="7471494" y="1795696"/>
            <a:ext cx="3882301" cy="2201680"/>
          </a:xfrm>
          <a:prstGeom prst="rect">
            <a:avLst/>
          </a:prstGeom>
        </p:spPr>
      </p:pic>
      <p:pic>
        <p:nvPicPr>
          <p:cNvPr id="759099291" name=""/>
          <p:cNvPicPr>
            <a:picLocks noChangeAspect="1"/>
          </p:cNvPicPr>
          <p:nvPr/>
        </p:nvPicPr>
        <p:blipFill rotWithShape="1">
          <a:blip r:embed="rId5"/>
          <a:srcRect l="1478" t="0" r="0" b="0"/>
          <a:stretch/>
        </p:blipFill>
        <p:spPr bwMode="auto">
          <a:xfrm flipH="0" flipV="0">
            <a:off x="7471494" y="324786"/>
            <a:ext cx="3861693" cy="2204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5">
            <a:lumMod val="40000"/>
            <a:lumOff val="60000"/>
            <a:alpha val="9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803591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Описание датасета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graphicFrame>
        <p:nvGraphicFramePr>
          <p:cNvPr id="1205911088" name="Объект 310771180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198" y="1102894"/>
          <a:ext cx="5339989" cy="13460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710000"/>
                <a:gridCol w="1710000"/>
                <a:gridCol w="1080000"/>
                <a:gridCol w="3870000"/>
                <a:gridCol w="2132899"/>
              </a:tblGrid>
              <a:tr h="7946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Название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Кодек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FPS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Интенсивность объектов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Длительность видео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9049" algn="ctr">
                      <a:solidFill>
                        <a:schemeClr val="tx2">
                          <a:lumMod val="75000"/>
                        </a:schemeClr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9049" algn="ctr">
                      <a:solidFill>
                        <a:schemeClr val="tx2">
                          <a:lumMod val="75000"/>
                        </a:schemeClr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6726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boar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H.264 (High Profile)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30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Объект не покидает кадр, изменяется в размере, крутится. Фон изменяется.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0:16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9049" algn="ctr">
                      <a:solidFill>
                        <a:schemeClr val="tx2">
                          <a:lumMod val="75000"/>
                        </a:schemeClr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946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birds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H.264 (High Profile)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30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Объет не покидает кадр, но под конец видео находится в толпе. Быстро передвигается, фон изменяется.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0:09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9049" algn="ctr">
                      <a:solidFill>
                        <a:schemeClr val="tx2">
                          <a:lumMod val="75000"/>
                        </a:schemeClr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946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horsen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H.264 (High Profile)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30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Объект не меняет масштаба и не разворачивается, фон незначительно меняется.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0:</a:t>
                      </a:r>
                      <a:r>
                        <a:rPr 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13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9049" algn="ctr">
                      <a:solidFill>
                        <a:schemeClr val="tx2">
                          <a:lumMod val="75000"/>
                        </a:schemeClr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946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pukeko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H.264 (High Profile)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30</a:t>
                      </a:r>
                      <a:endParaRPr/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Объект движется, меняется масштаб и фон. Покидает кадр дважды.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1:14</a:t>
                      </a:r>
                      <a:endParaRPr/>
                    </a:p>
                  </a:txBody>
                  <a:tcPr anchor="ctr">
                    <a:lnL w="19049" algn="ctr">
                      <a:solidFill>
                        <a:schemeClr val="tx2">
                          <a:lumMod val="75000"/>
                        </a:schemeClr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9049" algn="ctr">
                      <a:solidFill>
                        <a:schemeClr val="tx2">
                          <a:lumMod val="75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9468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turtle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16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H.264 (High Profile)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30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Объект медленно движется, один раз выходит за кадр. Фон почти не изменяется.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2699" algn="ctr">
                      <a:solidFill>
                        <a:srgbClr val="000000"/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0:16</a:t>
                      </a:r>
                      <a:endParaRPr sz="160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lnL w="19049" algn="ctr">
                      <a:solidFill>
                        <a:schemeClr val="tx2">
                          <a:lumMod val="75000"/>
                        </a:schemeClr>
                      </a:solidFill>
                    </a:lnL>
                    <a:lnR w="19049" algn="ctr">
                      <a:solidFill>
                        <a:schemeClr val="tx2">
                          <a:lumMod val="75000"/>
                        </a:schemeClr>
                      </a:solidFill>
                    </a:lnR>
                    <a:lnT w="19049" algn="ctr">
                      <a:solidFill>
                        <a:schemeClr val="tx2">
                          <a:lumMod val="75000"/>
                        </a:schemeClr>
                      </a:solidFill>
                    </a:lnT>
                    <a:lnB w="19049" algn="ctr">
                      <a:solidFill>
                        <a:schemeClr val="tx2">
                          <a:lumMod val="75000"/>
                        </a:schemeClr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6411396" name="TextBox 1736205686"/>
          <p:cNvSpPr txBox="1"/>
          <p:nvPr/>
        </p:nvSpPr>
        <p:spPr bwMode="auto">
          <a:xfrm>
            <a:off x="3665121" y="6377841"/>
            <a:ext cx="4861754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indent="0" algn="l">
              <a:buFont typeface="Arial"/>
              <a:buNone/>
              <a:defRPr/>
            </a:pPr>
            <a:r>
              <a:rPr lang="ru-RU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Таблица 1 - Параметры видео из датасета</a:t>
            </a:r>
            <a:endParaRPr sz="1600" b="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231774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Выбор методов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KCF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1351430673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464843"/>
            <a:ext cx="10515599" cy="436445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Работа </a:t>
            </a:r>
            <a:r>
              <a:rPr sz="2600" b="1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</a:t>
            </a:r>
            <a:r>
              <a:rPr sz="2600" b="1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(</a:t>
            </a:r>
            <a:r>
              <a:rPr lang="en-US" sz="2600" b="1" i="0" u="none" strike="noStrike" cap="none" spc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Kernelized Correlation Filters</a:t>
            </a:r>
            <a:r>
              <a:rPr sz="2600" b="1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)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организована на применении корреляционных фильтров, которые обучаются на основе примеров объекта в разных положениях и</a:t>
            </a:r>
            <a:r>
              <a:rPr lang="en-US" sz="26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масштабах</a:t>
            </a:r>
            <a:r>
              <a:rPr lang="ru-RU"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в первых кадрах видео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. В отличие от классического корреляционного метода KCF обладает высокой вычислительной эффективностью за счет использования свойств циклической матрицы и быстрого преобразования Фурье</a:t>
            </a:r>
            <a:r>
              <a:rPr lang="ru-RU"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.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endParaRPr sz="2600" b="0" i="0" u="none">
              <a:solidFill>
                <a:schemeClr val="tx2">
                  <a:lumMod val="75000"/>
                </a:schemeClr>
              </a:solidFill>
              <a:latin typeface="URW Gothic"/>
              <a:ea typeface="URW Gothic"/>
              <a:cs typeface="URW Gothi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600" i="0" u="none" strike="noStrike" cap="none" spc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Корреляционные фильтры хороши своей скоростью, но могут терять объект при значительных изменениях внешнего вида, перекрытиях или быстрой деформации.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11576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Выбор методов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CSRT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629410853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464843"/>
            <a:ext cx="10515599" cy="39834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Основная идея </a:t>
            </a:r>
            <a:r>
              <a:rPr sz="2600" b="1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CSRT (Channel and Spatial Reliability Tracker)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лежит в расчете</a:t>
            </a:r>
            <a:r>
              <a:rPr lang="ru-RU"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карты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пространственной и канальной надежности. </a:t>
            </a:r>
            <a:r>
              <a:rPr lang="ru-RU"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Она </a:t>
            </a:r>
            <a:r>
              <a:rPr lang="en-US" sz="2600" b="0" i="0" u="none" strike="noStrike" cap="none" spc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помогает алгоритму фокусироваться на тех областях объекта, которые лучше соответствуют оригинальным признакам, и игнорировать области, которые могут быть искажены или скрыты, а также лучше отслеживать объекты непрямоугольной формы. 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Под каналами в данном случае понимаются каналы признаков HOG</a:t>
            </a:r>
            <a:r>
              <a:rPr lang="ru-RU"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(</a:t>
            </a:r>
            <a:r>
              <a:rPr lang="ru-RU" sz="2600" b="0" i="0" u="none" strike="noStrike" cap="none" spc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Histogram of Oriented Gradients</a:t>
            </a:r>
            <a:r>
              <a:rPr sz="26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) и Color Names.</a:t>
            </a:r>
            <a:endParaRPr sz="2600">
              <a:solidFill>
                <a:schemeClr val="tx2">
                  <a:lumMod val="75000"/>
                </a:schemeClr>
              </a:solidFill>
              <a:latin typeface="URW Gothic"/>
              <a:ea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38970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Выбор методов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MeanShift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1985601450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464843"/>
            <a:ext cx="10515599" cy="39834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sz="28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Идея метод</a:t>
            </a:r>
            <a:r>
              <a:rPr lang="ru-RU" sz="28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а </a:t>
            </a:r>
            <a:r>
              <a:rPr sz="2800" b="1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сдвига среднего значения</a:t>
            </a:r>
            <a:r>
              <a:rPr lang="ru-RU" sz="28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</a:t>
            </a:r>
            <a:r>
              <a:rPr sz="2800" b="0" i="0" u="none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состоит в том, что для каждой особой точки (объекта) выбирается окно поиска, вычисляется центр масс распределения интенсивностей (гистограммы). Соответственно центр окна смещается в центр масс, который представляет собой положение точки на текущем кадре. Определение положения точки на последующих кадрах сводится к применению очередного шага метода "сдвига среднего". Метод останавливается, когда центр масс перестает смещаться.</a:t>
            </a:r>
            <a:endParaRPr sz="2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827488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Видео –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boar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305895818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464842"/>
            <a:ext cx="6268917" cy="493400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MeanShift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 702.5,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хорошо отслеживает объект даже при смене фона и формы, теряет не более 10% объекта за все видео.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CSRT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средний 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 8.7,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отслеживает объект чуть хуже, чем 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MeanShift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 но все еще теряет не более 10% объекта.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 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КС</a:t>
            </a: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 35.2,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теряет объект при первом его повороте.  </a:t>
            </a:r>
            <a:endParaRPr sz="2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524752368" name="Рисунок 154450415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29972" y="365123"/>
            <a:ext cx="4374822" cy="5321788"/>
          </a:xfrm>
          <a:prstGeom prst="rect">
            <a:avLst/>
          </a:prstGeom>
        </p:spPr>
      </p:pic>
      <p:sp>
        <p:nvSpPr>
          <p:cNvPr id="1880737320" name="TextBox 1958282504"/>
          <p:cNvSpPr txBox="1"/>
          <p:nvPr/>
        </p:nvSpPr>
        <p:spPr bwMode="auto">
          <a:xfrm>
            <a:off x="7810894" y="5824258"/>
            <a:ext cx="3412978" cy="33868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Рисунок 2 - Работа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MeanShift</a:t>
            </a:r>
            <a:endParaRPr lang="ru-RU" sz="2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7684732" name="Рисунок 54313718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29971" y="365123"/>
            <a:ext cx="4374822" cy="5321787"/>
          </a:xfrm>
          <a:prstGeom prst="rect">
            <a:avLst/>
          </a:prstGeom>
        </p:spPr>
      </p:pic>
      <p:sp>
        <p:nvSpPr>
          <p:cNvPr id="1763569317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Видео – </a:t>
            </a:r>
            <a:r>
              <a:rPr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horsen</a:t>
            </a:r>
            <a:endParaRPr/>
          </a:p>
        </p:txBody>
      </p:sp>
      <p:sp>
        <p:nvSpPr>
          <p:cNvPr id="137456560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464842"/>
            <a:ext cx="6268917" cy="493400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MeanShift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 854.2,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не теряет объект полностью, но на протяжении всего видео «держится» за малую часть объекта. 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CSRT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средний 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 22.1,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очень хорошо отслеживает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рамка подстраивается под увеличение объекта.</a:t>
            </a:r>
            <a:endParaRPr lang="en-US" sz="2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КС</a:t>
            </a:r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 102.9,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тоже работает очень хорошо, но упускает края объекта при его приближении.</a:t>
            </a:r>
            <a:endParaRPr sz="2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267508217" name="TextBox 1607286119"/>
          <p:cNvSpPr txBox="1"/>
          <p:nvPr/>
        </p:nvSpPr>
        <p:spPr bwMode="auto">
          <a:xfrm>
            <a:off x="8089233" y="5824258"/>
            <a:ext cx="2856300" cy="33868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Рисунок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3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- Работа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CSRT</a:t>
            </a:r>
            <a:endParaRPr lang="ru-RU" sz="2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004717" name="Title 1"/>
          <p:cNvSpPr>
            <a:spLocks noGrp="1"/>
          </p:cNvSpPr>
          <p:nvPr/>
        </p:nvSpPr>
        <p:spPr bwMode="auto">
          <a:xfrm>
            <a:off x="838197" y="365123"/>
            <a:ext cx="10515600" cy="63750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4400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Видео – </a:t>
            </a:r>
            <a:r>
              <a:rPr lang="en-US" sz="4400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birds</a:t>
            </a:r>
            <a:endParaRPr sz="4400"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1995988443" name="Content Placeholder 2"/>
          <p:cNvSpPr>
            <a:spLocks noGrp="1"/>
          </p:cNvSpPr>
          <p:nvPr/>
        </p:nvSpPr>
        <p:spPr bwMode="auto">
          <a:xfrm>
            <a:off x="838197" y="1464842"/>
            <a:ext cx="7471299" cy="498284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5000" lnSpcReduction="3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998"/>
              </a:spcBef>
              <a:buNone/>
              <a:defRPr/>
            </a:pPr>
            <a:r>
              <a:rPr lang="en-US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MeanShift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: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545.5.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Алгоритм теряет всегда теряет выделенный объект. Он очень неустойчив к каким-либо изменениям окружения выделенного объекта.</a:t>
            </a:r>
            <a:endParaRPr lang="en-US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CSRT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: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44.2.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Алгоритм показал высокую устойчивость к изменению формы, масштаба и фона. Объект теряется при выходе за границы кадра и последующем возвращении обратно. Если объект остается в кадре, то он почти не теряется.</a:t>
            </a:r>
            <a:endParaRPr lang="en-US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FPS: 25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.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Алгоритм очень плохо отслеживает маленькие объекты, а также теряет объект при изменении его формы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/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масштаба.</a:t>
            </a:r>
            <a:endParaRPr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43052710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464470" y="683876"/>
            <a:ext cx="2889326" cy="5085417"/>
          </a:xfrm>
          <a:prstGeom prst="rect">
            <a:avLst/>
          </a:prstGeom>
        </p:spPr>
      </p:pic>
      <p:sp>
        <p:nvSpPr>
          <p:cNvPr id="1893015652" name="Content Placeholder 2"/>
          <p:cNvSpPr txBox="1"/>
          <p:nvPr/>
        </p:nvSpPr>
        <p:spPr bwMode="auto">
          <a:xfrm>
            <a:off x="8562812" y="5856449"/>
            <a:ext cx="2692644" cy="380232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998"/>
              </a:spcBef>
              <a:buFont typeface="Arial"/>
              <a:buNone/>
              <a:defRPr/>
            </a:pPr>
            <a:r>
              <a:rPr lang="ru-RU" sz="1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Рисунок 4 – Работа </a:t>
            </a:r>
            <a:r>
              <a:rPr lang="en-US" sz="1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CSRT</a:t>
            </a:r>
            <a:endParaRPr lang="ru-RU" sz="1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450679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ru-RU" sz="4400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Видео – </a:t>
            </a:r>
            <a:r>
              <a:rPr lang="en-US" sz="4400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pukeko</a:t>
            </a:r>
            <a:endParaRPr sz="4400"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109349070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464842"/>
            <a:ext cx="7772811" cy="50378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3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MeanShift</a:t>
            </a:r>
            <a:r>
              <a:rPr lang="en-US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FPS: 717</a:t>
            </a:r>
            <a:r>
              <a:rPr lang="ru-RU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. Объект отслеживается хорошо, пока он не изменит свою форму и размер. Следовательно, алгоритм проявляет очень низкую устойчивость к изменениям объекта и его окружения.</a:t>
            </a:r>
            <a:endParaRPr sz="23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3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CSRT</a:t>
            </a:r>
            <a:r>
              <a:rPr lang="en-US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FPS: 30. </a:t>
            </a:r>
            <a:r>
              <a:rPr lang="ru-RU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Алгоритм проявляет очень высокую устойчивость и изменению формы объекта, его размера, а также заднего фона. Объект теряется только в середине видео при сильном приближении ракурса.</a:t>
            </a:r>
            <a:endParaRPr sz="23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3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</a:t>
            </a:r>
            <a:r>
              <a:rPr lang="en-US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средний </a:t>
            </a:r>
            <a:r>
              <a:rPr lang="en-US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FPS: </a:t>
            </a:r>
            <a:r>
              <a:rPr lang="ru-RU" sz="23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150. Алгоритм очень быстро теряет объект, если выделение маленькое, но если сделать выделение побольше, то объект отслеживается лучше, но позже все равно теряется из-за увеличения. Устойчивость к изменению формы и масштаба низкая, а к изменению фона – высокая.</a:t>
            </a:r>
            <a:endParaRPr sz="23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1690930362" name="Рисунок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79760" y="765811"/>
            <a:ext cx="2926845" cy="4984783"/>
          </a:xfrm>
          <a:prstGeom prst="rect">
            <a:avLst/>
          </a:prstGeom>
        </p:spPr>
      </p:pic>
      <p:sp>
        <p:nvSpPr>
          <p:cNvPr id="403503335" name="Content Placeholder 2"/>
          <p:cNvSpPr txBox="1"/>
          <p:nvPr/>
        </p:nvSpPr>
        <p:spPr bwMode="auto">
          <a:xfrm>
            <a:off x="8871761" y="5828943"/>
            <a:ext cx="2734844" cy="380232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998"/>
              </a:spcBef>
              <a:buFont typeface="Arial"/>
              <a:buNone/>
              <a:defRPr/>
            </a:pPr>
            <a:r>
              <a:rPr lang="ru-RU" sz="1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Рисунок 5 – Работа </a:t>
            </a:r>
            <a:r>
              <a:rPr lang="en-US" sz="1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</a:t>
            </a:r>
            <a:endParaRPr lang="ru-RU" sz="1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99190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/>
          <a:p>
            <a:pPr>
              <a:defRPr/>
            </a:pPr>
            <a:r>
              <a:rPr lang="ru-RU" sz="4400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Видео – </a:t>
            </a:r>
            <a:r>
              <a:rPr lang="en-US" sz="4400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turtle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617585833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464842"/>
            <a:ext cx="7551199" cy="505611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5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MeanShift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c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редний 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FPS: 742.8. 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При выделении области внутри объекта алгоритм отслеживает хорошо, но если выделить объект целиком, то алгоритм быстро его теряет. Следовательно, устойчивость к изменению формы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/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масштаба объекта низкая, к изменению фона – низкая.</a:t>
            </a:r>
            <a:endParaRPr sz="25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5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CSRT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c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редний 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FPS: 14.6. 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Алгоритм проявляет очень хорошую устойчивость к изменению формы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/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масштаба объекта и к изменению фона.</a:t>
            </a:r>
            <a:endParaRPr sz="2500"/>
          </a:p>
          <a:p>
            <a:pPr marL="0" indent="0">
              <a:spcBef>
                <a:spcPts val="998"/>
              </a:spcBef>
              <a:buNone/>
              <a:defRPr/>
            </a:pPr>
            <a:r>
              <a:rPr lang="en-US" sz="25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– 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редний 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FPS: 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28.6. При изменении формы объекта он теряется. Следовательно, устойчивость к изменению формы</a:t>
            </a:r>
            <a:r>
              <a:rPr lang="en-US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/</a:t>
            </a:r>
            <a:r>
              <a:rPr lang="ru-RU" sz="25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масштаба объекта низкая, к изменению фона – высокая.</a:t>
            </a:r>
            <a:endParaRPr sz="25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endParaRPr sz="25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333831470" name="Рисунок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20434" y="507874"/>
            <a:ext cx="2920496" cy="4940422"/>
          </a:xfrm>
          <a:prstGeom prst="rect">
            <a:avLst/>
          </a:prstGeom>
        </p:spPr>
      </p:pic>
      <p:sp>
        <p:nvSpPr>
          <p:cNvPr id="569438217" name="Content Placeholder 2"/>
          <p:cNvSpPr txBox="1"/>
          <p:nvPr/>
        </p:nvSpPr>
        <p:spPr bwMode="auto">
          <a:xfrm>
            <a:off x="8620434" y="5638827"/>
            <a:ext cx="2920496" cy="380232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998"/>
              </a:spcBef>
              <a:buFont typeface="Arial"/>
              <a:buNone/>
              <a:defRPr/>
            </a:pPr>
            <a:r>
              <a:rPr lang="ru-RU" sz="1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Рисунок 6 – Работа </a:t>
            </a:r>
            <a:r>
              <a:rPr lang="en-US" sz="1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CSRT</a:t>
            </a:r>
            <a:endParaRPr lang="ru-RU" sz="1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507558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Сравнительный анализ методов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graphicFrame>
        <p:nvGraphicFramePr>
          <p:cNvPr id="748629018" name="Объект 733749699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198" y="1464843"/>
          <a:ext cx="10515599" cy="107687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350000"/>
                <a:gridCol w="1530000"/>
                <a:gridCol w="2880000"/>
                <a:gridCol w="2430000"/>
                <a:gridCol w="2325599"/>
              </a:tblGrid>
              <a:tr h="10027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Название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Средний </a:t>
                      </a:r>
                      <a:r>
                        <a:rPr lang="en-US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FPS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Устойчивость к изменениям формы/масштаба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Устойчивость к изменениям фона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Частота потери объекта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2837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KCF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68.3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Низкая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Средняя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Выше среднего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2837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CSRT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23.9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Очень высокая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Очень высокая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Очень низкая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2837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MeanShift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712.4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Очень низкая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Очень низкая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cs typeface="URW Gothic"/>
                        </a:rPr>
                        <a:t>Очень высокая</a:t>
                      </a:r>
                      <a:endParaRPr b="0"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10367045" name="TextBox 344607669"/>
          <p:cNvSpPr txBox="1"/>
          <p:nvPr/>
        </p:nvSpPr>
        <p:spPr bwMode="auto">
          <a:xfrm>
            <a:off x="2335107" y="4998719"/>
            <a:ext cx="753448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indent="0" algn="l">
              <a:buFont typeface="Arial"/>
              <a:buNone/>
              <a:defRPr/>
            </a:pP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Таблица </a:t>
            </a:r>
            <a:r>
              <a:rPr lang="en-US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2</a:t>
            </a: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- </a:t>
            </a: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Сравнение методов по выбранным ранее параметрам</a:t>
            </a:r>
            <a:endParaRPr sz="1800" b="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778180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Математическая модель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: Задача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1372992517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057468"/>
            <a:ext cx="10515597" cy="55050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Отслеживаемый объект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обычно выбирается с помощью прямоугольной ограничивающей рамки (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bounding box).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Задача трекера – следить за объектом в видеопотоке, обновляя параметры этой рамки (в простейшем случае её – положение).</a:t>
            </a:r>
            <a:endParaRPr/>
          </a:p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Основная идея трекинга на основе корреляционного фильтра заключается в вычислении оптимального фильтра изображения таким образом, чтобы после фильтрации входного изображения получался требуемый отклик. Обычно желаемый отклик имеет форму гауссиана, центрированного в положении цели. </a:t>
            </a:r>
            <a:endParaRPr sz="2600"/>
          </a:p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Таким образом, значение отклика уменьшается с увеличением расстояния от центра.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774041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1005459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Математическая модель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:  </a:t>
            </a:r>
            <a:b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</a:b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Общие свойства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654045161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256521"/>
            <a:ext cx="10515597" cy="54864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Фильтр обучается на циклически смещённых вариантах исходного фрагмента с объектом. При тестировании вычисляется отклик фильтра, и максимум этого отклика указывает новое положение цели. Обучение фильтра происходит в режиме реального времени (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on-line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)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и обновляется последовательно на каждом кадре, чтобы трекер мог адаптироваться к умеренным изменениям внешнего вида объекта.</a:t>
            </a:r>
            <a:endParaRPr/>
          </a:p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Главным преимуществом корреляционного трекера является высокая вычислительная эффективность. Это достигается благодаря тому, что вычисления могут выполняться эффективно в частотной области (в пространстве Фурье). Благодаря этому трекер работает в режиме быстро – со скоростью в несколько сотен кадров в секунду.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376172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Математическая модель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: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LCF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965288034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002630"/>
            <a:ext cx="10515597" cy="557233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Основой для 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служит </a:t>
            </a: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LCF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(Linear Correlation Filter)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.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 нем решается задача минимизации фильтра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𝑤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:</a:t>
            </a:r>
            <a:endParaRPr lang="ru-RU" sz="26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L="0" indent="0">
              <a:spcBef>
                <a:spcPts val="998"/>
              </a:spcBef>
              <a:buNone/>
              <a:defRPr/>
            </a:pPr>
            <a:endParaRPr lang="ru-RU" sz="26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Здесь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𝑋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циркулянт целевого фрагмента изображения с объектом. Он хранит все возможные циклические сдвиги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фрагмента по вертикали и горизонтали.</a:t>
            </a:r>
            <a:endParaRPr sz="2600"/>
          </a:p>
          <a:p>
            <a:pPr marL="0" indent="0">
              <a:spcBef>
                <a:spcPts val="998"/>
              </a:spcBef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260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URW Gothic"/>
                        </a:rPr>
                        <m:t>𝜆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регуляризирующий коэффициент, предназначенный для учета в расчетах шумов, искажений и прочих изменений фона и объекта в кадре.</a:t>
            </a:r>
            <a:endParaRPr sz="2600"/>
          </a:p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Таким образом, задача сводится к подбору оптимального фильтра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𝑤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при умножении на который циркулянта достигается как можно близкий к идеальному отклик (информация о том, находится ли объект в центре фрагмента).</a:t>
            </a:r>
            <a:endParaRPr sz="26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1346054678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62310" y="1749163"/>
            <a:ext cx="2667371" cy="4858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443909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Математическая модель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KCF: LCF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393454434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002630"/>
            <a:ext cx="10515597" cy="559722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Данная задача оптимизации решается следующим уравнением: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Вычисление значение по данной формулы имеет высокую сложность из-за операций вроде умножения матриц и их транспонирования.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Для ускорения вычислений используется свойство: при применении дискретного преобразования Фурье к любому циркулянту получается диагональная матрица. Это позволяет снизить сложность алгоритма расчета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𝑤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𝑂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(</m:t>
                      </m:r>
                      <m:sSup>
                        <m:sSupPr>
                          <m:ctrlPr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URW Gothic"/>
                            </a:rPr>
                          </m:ctrlPr>
                        </m:sSupPr>
                        <m:e>
                          <m:r>
                            <m:rPr/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URW Gothic"/>
                            </a:rPr>
                            <m:t>𝑛</m:t>
                          </m:r>
                        </m:e>
                        <m:sup>
                          <m:r>
                            <m:rPr/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URW Gothic"/>
                            </a:rPr>
                            <m:t>2</m:t>
                          </m:r>
                        </m:sup>
                      </m:sSup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до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𝑂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(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𝑛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.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Полученная выше формула в пространстве Фурье сводится к следующей формуле: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endParaRPr sz="26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1927792985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43284" y="1431249"/>
            <a:ext cx="2505424" cy="400105"/>
          </a:xfrm>
          <a:prstGeom prst="rect">
            <a:avLst/>
          </a:prstGeom>
        </p:spPr>
      </p:pic>
      <p:pic>
        <p:nvPicPr>
          <p:cNvPr id="401936036" name="Рисунок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281495" y="5557010"/>
            <a:ext cx="1629001" cy="6954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574966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Математическая модель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KCF: </a:t>
            </a:r>
            <a:b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</a:b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Переход от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LCF 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к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1176422339" name="Content Placeholder 2"/>
          <p:cNvSpPr>
            <a:spLocks noGrp="1"/>
          </p:cNvSpPr>
          <p:nvPr>
            <p:ph idx="1"/>
          </p:nvPr>
        </p:nvSpPr>
        <p:spPr bwMode="auto">
          <a:xfrm>
            <a:off x="838195" y="1260777"/>
            <a:ext cx="10515597" cy="559722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LCF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работает наиболее эффективно в случае, когда ответ линейно зависит от признаков, но в реальных случаях зависимости нелинейны, поэтому для описания таких зависимостей необходимо перейти в нелинейное пространство. Для этого используется отображение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𝑥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URW Gothic"/>
                        </a:rPr>
                        <m:t>→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URW Gothic"/>
                        </a:rPr>
                        <m:t>𝜑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URW Gothic"/>
                        </a:rPr>
                        <m:t>(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URW Gothic"/>
                        </a:rPr>
                        <m:t>𝑥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URW Gothic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тогда фильтр представляется линейной комбинацией </a:t>
            </a:r>
            <a:endParaRPr lang="en-US" sz="2600" b="0" i="1">
              <a:solidFill>
                <a:schemeClr val="tx2">
                  <a:lumMod val="75000"/>
                </a:schemeClr>
              </a:solidFill>
              <a:latin typeface="Cambria Math"/>
              <a:cs typeface="URW Gothic"/>
            </a:endParaRPr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𝑤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supHide m:val="on"/>
                          <m:ctrlPr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600" b="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600" b="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m:rPr/>
                                <a:rPr lang="en-US" sz="2600" b="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m:rPr/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𝜑</m:t>
                          </m:r>
                          <m:r>
                            <m:rPr/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sz="2600" b="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m:rPr/>
                                <a:rPr lang="en-US" sz="2600" b="0" i="1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m:rPr/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а формула минимизации принимает вид: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endParaRPr lang="ru-RU" sz="26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Где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𝐾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матрица ядерной функции со значениями 		       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Теперь минимизируется не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𝑤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а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все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URW Gothic"/>
                            </a:rPr>
                          </m:ctrlPr>
                        </m:sSubPr>
                        <m:e>
                          <m:r>
                            <m:rPr/>
                            <a:rPr lang="ru-RU" sz="260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URW Gothic"/>
                            </a:rPr>
                            <m:t>𝛼</m:t>
                          </m:r>
                        </m:e>
                        <m:sub>
                          <m:r>
                            <m:rPr/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URW Gothic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и задача принимает нелинейный характер и становится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 </a:t>
            </a: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(</a:t>
            </a: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Kernelized Correlation Filter</a:t>
            </a: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)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.</a:t>
            </a:r>
            <a:endParaRPr/>
          </a:p>
        </p:txBody>
      </p:sp>
      <p:pic>
        <p:nvPicPr>
          <p:cNvPr id="978404415" name="Рисунок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48019" y="4115266"/>
            <a:ext cx="2695950" cy="619210"/>
          </a:xfrm>
          <a:prstGeom prst="rect">
            <a:avLst/>
          </a:prstGeom>
        </p:spPr>
      </p:pic>
      <p:pic>
        <p:nvPicPr>
          <p:cNvPr id="661339572" name="Рисунок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850035" y="4793388"/>
            <a:ext cx="1752843" cy="36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824132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Математическая модель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2023092361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002630"/>
            <a:ext cx="10515597" cy="559722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Задача минимизации 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имеет следующее решение: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endParaRPr lang="ru-RU" sz="26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Большинство используемых ядерных функций сохраняют циркулянтный характер в матрице, что позволяет применить то же свойство дискретного преобразования Фурье и снизить сложность алгоритма до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𝑂</m:t>
                      </m:r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(</m:t>
                      </m:r>
                      <m:sSup>
                        <m:sSupPr>
                          <m:ctrlPr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  <a:cs typeface="URW Gothic"/>
                            </a:rPr>
                          </m:ctrlPr>
                        </m:sSupPr>
                        <m:e>
                          <m:r>
                            <m:rPr/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URW Gothic"/>
                            </a:rPr>
                            <m:t>𝑛</m:t>
                          </m:r>
                        </m:e>
                        <m:sup>
                          <m:r>
                            <m:rPr/>
                            <a:rPr lang="en-US" sz="2600" b="0" i="1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/>
                              <a:cs typeface="URW Gothic"/>
                            </a:rPr>
                            <m:t>𝑘</m:t>
                          </m:r>
                        </m:sup>
                      </m:sSup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где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600" b="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cs typeface="URW Gothic"/>
                        </a:rPr>
                        <m:t>𝑘</m:t>
                      </m:r>
                    </m:oMath>
                  </m:oMathPara>
                </a14:m>
              </mc:Choice>
              <mc:Fallback/>
            </mc:AlternateContent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–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количество рассматриваемых признаков. </a:t>
            </a:r>
            <a:endParaRPr sz="2600"/>
          </a:p>
          <a:p>
            <a:pPr marL="0" indent="0">
              <a:spcBef>
                <a:spcPts val="998"/>
              </a:spcBef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Тогда формула рассчета коэффициентов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2600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URW Gothic"/>
                        </a:rPr>
                        <m:t>𝛼</m:t>
                      </m:r>
                    </m:oMath>
                  </m:oMathPara>
                </a14:m>
              </mc:Choice>
              <mc:Fallback/>
            </mc:AlternateContent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в пространстве Фурье принимает вид: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endParaRPr lang="ru-RU" sz="26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1497413676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29100" y="1489755"/>
            <a:ext cx="1733791" cy="457263"/>
          </a:xfrm>
          <a:prstGeom prst="rect">
            <a:avLst/>
          </a:prstGeom>
        </p:spPr>
      </p:pic>
      <p:pic>
        <p:nvPicPr>
          <p:cNvPr id="791780044" name="Рисунок 3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57732" y="4849260"/>
            <a:ext cx="1276527" cy="714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600715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Математическая модель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: </a:t>
            </a:r>
            <a:b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</a:b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Признаки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HOG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404881574" name="Content Placeholder 2"/>
          <p:cNvSpPr>
            <a:spLocks noGrp="1"/>
          </p:cNvSpPr>
          <p:nvPr>
            <p:ph idx="1"/>
          </p:nvPr>
        </p:nvSpPr>
        <p:spPr bwMode="auto">
          <a:xfrm>
            <a:off x="838197" y="1268142"/>
            <a:ext cx="10515597" cy="559722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 написанном методе в качестве признаков объекта берется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гистограмма направленных градиентов (</a:t>
            </a: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HOG</a:t>
            </a:r>
            <a:r>
              <a:rPr lang="ru-RU" sz="26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)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 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 котором локальные формы и границы объекта описываются через распределение градиентов яркости в небольших областях изображения.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 помощью численных методов, таких как оператор Собеля, для каждого пикселя рассчитывается градиент, его длина и направление. Эти значения вносятся в гистограммы, которые строятся для отдельных групп пикселей (ячеек)</a:t>
            </a:r>
            <a:r>
              <a:rPr lang="en-US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.</a:t>
            </a: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Эти ячейки затем объединяются в блоки и нормализуются.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6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Все нормализованные блоки объединяются в единый вектор признаков, который и используется для трекинга.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278815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Реализация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294614666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319872"/>
            <a:ext cx="10515599" cy="43469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 нашей реализации были использованы библиотеки:</a:t>
            </a:r>
            <a:endParaRPr/>
          </a:p>
          <a:p>
            <a:pPr marR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Tx/>
              <a:buChar char="-"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OpenCV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– для обработки изображения и получения вектора признаков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HOG</a:t>
            </a:r>
            <a:endParaRPr lang="ru-RU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R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Tx/>
              <a:buChar char="-"/>
              <a:defRPr/>
            </a:pPr>
            <a:r>
              <a:rPr lang="en-US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Numpy – </a:t>
            </a: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для работы с матрицами и математическими функциями</a:t>
            </a:r>
            <a:endParaRPr/>
          </a:p>
          <a:p>
            <a:pPr marR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Tx/>
              <a:buChar char="-"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Numpy.fft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для использования дискретного преобразования Фурье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None/>
              <a:defRPr/>
            </a:pPr>
            <a:endParaRPr sz="280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592943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Реализация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KCF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1591785575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262743"/>
            <a:ext cx="10515599" cy="523758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None/>
              <a:defRPr/>
            </a:pPr>
            <a:r>
              <a:rPr lang="ru-RU" sz="280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 реализации использованы 2 класса: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HOG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– вычисляет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HOG-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признаки фрагмента изображения.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None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Tracker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содержит основную логику метода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KCF,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включает такие методы, как:</a:t>
            </a:r>
            <a:endParaRPr/>
          </a:p>
          <a:p>
            <a:pPr marR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Tx/>
              <a:buChar char="-"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get_feature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извлекает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HOG-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признаки для заданной </a:t>
            </a: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ROI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</a:t>
            </a:r>
            <a:endParaRPr lang="en-US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  <a:p>
            <a:pPr marR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Tx/>
              <a:buChar char="-"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gaussian_peak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вычисляет ожидаемый отклик согласно функции Гаусса,</a:t>
            </a:r>
            <a:endParaRPr/>
          </a:p>
          <a:p>
            <a:pPr marR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Tx/>
              <a:buChar char="-"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train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рассчитывает минимизируемые коэффициенты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i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  <a:cs typeface="URW Gothic"/>
                        </a:rPr>
                        <m:t>𝛼</m:t>
                      </m:r>
                    </m:oMath>
                  </m:oMathPara>
                </a14:m>
              </mc:Choice>
              <mc:Fallback/>
            </mc:AlternateContent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,</a:t>
            </a:r>
            <a:endParaRPr/>
          </a:p>
          <a:p>
            <a:pPr marR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Tx/>
              <a:buChar char="-"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detect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вычисляет отклик трекера на новом кадре,</a:t>
            </a:r>
            <a:endParaRPr/>
          </a:p>
          <a:p>
            <a:pPr marR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Tx/>
              <a:buChar char="-"/>
              <a:defRPr/>
            </a:pPr>
            <a:r>
              <a:rPr lang="en-US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update – </a:t>
            </a:r>
            <a:r>
              <a:rPr lang="ru-RU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обновляет положение объекта на новом кадре.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970808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Сравнение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 с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OpenCV KCF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graphicFrame>
        <p:nvGraphicFramePr>
          <p:cNvPr id="1019371119" name="Объект 637855372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197" y="1464842"/>
          <a:ext cx="10515597" cy="36576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350000"/>
                <a:gridCol w="3150000"/>
                <a:gridCol w="3510000"/>
                <a:gridCol w="2505597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Название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OpenCV KCF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Наш </a:t>
                      </a: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KCF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Итог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boar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Плавный, но потерял объект при его первом развороте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Не плавный, продержался на объекте чуть дольше, но тоже потерял при развороте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Оба справились плохо, но </a:t>
                      </a: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OpenCV KCF </a:t>
                      </a: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был чуть лучше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horsen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Хорошо отслеживает, при приближении объекта не увеличивает рамку, из-за чего не полностью захватывает объект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В начале теряет около половины объекта, потом захватывает его почти полностью. При приближении теряет объект.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OpenCV KCF </a:t>
                      </a: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лучше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birds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Из-за маленького размера теряет объект моментально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Чуть дольше держится, но также исчезает из-за малого размера объекта</a:t>
                      </a: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. </a:t>
                      </a: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При выборе большей области отслеживает объект, пока тот не войдет в толпу похожих объектов.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Наш </a:t>
                      </a: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KCF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1791330" name="TextBox 2002109277"/>
          <p:cNvSpPr txBox="1"/>
          <p:nvPr/>
        </p:nvSpPr>
        <p:spPr bwMode="auto">
          <a:xfrm>
            <a:off x="3150018" y="5987739"/>
            <a:ext cx="6469162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indent="0" algn="l">
              <a:buFont typeface="Arial"/>
              <a:buNone/>
              <a:defRPr/>
            </a:pP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Таблица </a:t>
            </a:r>
            <a:r>
              <a:rPr lang="en-US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3.1</a:t>
            </a: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- </a:t>
            </a: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Сравнение библиотечного и нашего </a:t>
            </a:r>
            <a:r>
              <a:rPr lang="en-US" sz="1800" b="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</a:t>
            </a:r>
            <a:endParaRPr sz="1800" b="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216490" name="Title 1"/>
          <p:cNvSpPr>
            <a:spLocks noGrp="1"/>
          </p:cNvSpPr>
          <p:nvPr>
            <p:ph type="title"/>
          </p:nvPr>
        </p:nvSpPr>
        <p:spPr bwMode="auto">
          <a:xfrm>
            <a:off x="838197" y="365123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ea typeface="URW Gothic"/>
                <a:cs typeface="URW Gothic"/>
              </a:rPr>
              <a:t>Сравнение</a:t>
            </a: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 с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OpenCV KCF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graphicFrame>
        <p:nvGraphicFramePr>
          <p:cNvPr id="436116922" name="Объект 2094460864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838197" y="1464842"/>
          <a:ext cx="10515597" cy="24688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{5940675A-B579-460E-94D1-54222C63F5DA}</a:tableStyleId>
              </a:tblPr>
              <a:tblGrid>
                <a:gridCol w="1350000"/>
                <a:gridCol w="3330000"/>
                <a:gridCol w="3330000"/>
                <a:gridCol w="2505598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Название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OpenCV KCF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Наш </a:t>
                      </a: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KCF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Итог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pukeko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Хорошо работает, но только до того как объект сильно увеличится 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Хорошо работает, но только до того как объект сильно увеличится 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Одинаково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6070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turtle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800" b="0" i="0" u="none" strike="noStrike" cap="none" spc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Теряет объект, когда тот выныривает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Теряет большую часть объекта, когда тот выныривает</a:t>
                      </a: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, </a:t>
                      </a: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полностью теряет после увеличения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Наш </a:t>
                      </a:r>
                      <a:r>
                        <a:rPr lang="en-US">
                          <a:solidFill>
                            <a:schemeClr val="tx2">
                              <a:lumMod val="75000"/>
                            </a:schemeClr>
                          </a:solidFill>
                          <a:latin typeface="URW Gothic"/>
                          <a:ea typeface="URW Gothic"/>
                          <a:cs typeface="URW Gothic"/>
                        </a:rPr>
                        <a:t>KCF</a:t>
                      </a:r>
                      <a:endParaRPr>
                        <a:solidFill>
                          <a:schemeClr val="tx2">
                            <a:lumMod val="75000"/>
                          </a:schemeClr>
                        </a:solidFill>
                        <a:latin typeface="URW Gothic"/>
                        <a:cs typeface="URW Gothic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28534893" name="TextBox 1242572389"/>
          <p:cNvSpPr txBox="1"/>
          <p:nvPr/>
        </p:nvSpPr>
        <p:spPr bwMode="auto">
          <a:xfrm>
            <a:off x="3045574" y="3985432"/>
            <a:ext cx="621028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indent="0" algn="l">
              <a:buFont typeface="Arial"/>
              <a:buNone/>
              <a:defRPr/>
            </a:pP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Таблица </a:t>
            </a:r>
            <a:r>
              <a:rPr lang="en-US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3.2</a:t>
            </a: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ea typeface="URW Gothic"/>
                <a:cs typeface="URW Gothic"/>
              </a:rPr>
              <a:t> - </a:t>
            </a:r>
            <a:r>
              <a:rPr lang="ru-RU" sz="1800" b="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Сравнение библиотечного и нашего </a:t>
            </a:r>
            <a:r>
              <a:rPr lang="en-US" sz="1800" b="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</a:t>
            </a:r>
            <a:endParaRPr sz="1800" b="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  <p:sp>
        <p:nvSpPr>
          <p:cNvPr id="78478702" name="TextBox 1380296414"/>
          <p:cNvSpPr txBox="1"/>
          <p:nvPr/>
        </p:nvSpPr>
        <p:spPr bwMode="auto">
          <a:xfrm>
            <a:off x="838197" y="4643188"/>
            <a:ext cx="10625039" cy="9970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0" marR="0" indent="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200" b="1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Заключение: </a:t>
            </a:r>
            <a:r>
              <a:rPr lang="ru-RU" sz="2200" b="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на стандартных для </a:t>
            </a:r>
            <a:r>
              <a:rPr lang="en-US" sz="2200" b="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KCF-</a:t>
            </a:r>
            <a:r>
              <a:rPr lang="ru-RU" sz="2200" b="0">
                <a:solidFill>
                  <a:schemeClr val="tx2">
                    <a:lumMod val="75000"/>
                  </a:schemeClr>
                </a:solidFill>
                <a:latin typeface="URW Gothic"/>
                <a:cs typeface="URW Gothic"/>
              </a:rPr>
              <a:t>трекера задачах библиотечный трекер работает лучше нашего, однако в задачах, где объект меняет форму или масштаб, наш трекер работает чуть лучше.</a:t>
            </a:r>
            <a:endParaRPr sz="2800" b="0">
              <a:solidFill>
                <a:schemeClr val="tx2">
                  <a:lumMod val="75000"/>
                </a:schemeClr>
              </a:solidFill>
              <a:latin typeface="URW Gothic"/>
              <a:cs typeface="URW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661958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63750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Результаты тестирования </a:t>
            </a:r>
            <a:r>
              <a:rPr lang="en-US">
                <a:solidFill>
                  <a:schemeClr val="tx2">
                    <a:lumMod val="50000"/>
                  </a:schemeClr>
                </a:solidFill>
                <a:latin typeface="URW Gothic"/>
                <a:cs typeface="URW Gothic"/>
              </a:rPr>
              <a:t>KCF</a:t>
            </a:r>
            <a:endParaRPr>
              <a:solidFill>
                <a:schemeClr val="tx2">
                  <a:lumMod val="50000"/>
                </a:schemeClr>
              </a:solidFill>
              <a:latin typeface="URW Gothic"/>
              <a:cs typeface="URW Gothic"/>
            </a:endParaRPr>
          </a:p>
        </p:txBody>
      </p:sp>
      <p:pic>
        <p:nvPicPr>
          <p:cNvPr id="1132114832" name="Объект 1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flipH="0" flipV="0">
            <a:off x="623673" y="1294367"/>
            <a:ext cx="3533220" cy="4156730"/>
          </a:xfrm>
          <a:prstGeom prst="rect">
            <a:avLst/>
          </a:prstGeom>
        </p:spPr>
      </p:pic>
      <p:pic>
        <p:nvPicPr>
          <p:cNvPr id="1625096752" name="Рисунок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413616" y="1189242"/>
            <a:ext cx="2739852" cy="2461471"/>
          </a:xfrm>
          <a:prstGeom prst="rect">
            <a:avLst/>
          </a:prstGeom>
        </p:spPr>
      </p:pic>
      <p:pic>
        <p:nvPicPr>
          <p:cNvPr id="97656491" name="Рисунок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2924788" y="4172517"/>
            <a:ext cx="2732013" cy="2454429"/>
          </a:xfrm>
          <a:prstGeom prst="rect">
            <a:avLst/>
          </a:prstGeom>
        </p:spPr>
      </p:pic>
      <p:pic>
        <p:nvPicPr>
          <p:cNvPr id="1227259930" name="Рисунок 5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986095" y="3372733"/>
            <a:ext cx="3612453" cy="3245413"/>
          </a:xfrm>
          <a:prstGeom prst="rect">
            <a:avLst/>
          </a:prstGeom>
        </p:spPr>
      </p:pic>
      <p:pic>
        <p:nvPicPr>
          <p:cNvPr id="1705819878" name="Рисунок 3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8347307" y="1189242"/>
            <a:ext cx="3630765" cy="32618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цифровой обработки мультимедиа</dc:title>
  <dc:creator>admin</dc:creator>
  <cp:lastModifiedBy/>
  <cp:revision>15</cp:revision>
  <dcterms:modified xsi:type="dcterms:W3CDTF">2025-10-31T08:22:33Z</dcterms:modified>
</cp:coreProperties>
</file>